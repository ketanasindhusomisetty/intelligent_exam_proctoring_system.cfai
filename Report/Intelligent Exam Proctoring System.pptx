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Lora Bold" charset="1" panose="00000800000000000000"/>
      <p:regular r:id="rId12"/>
    </p:embeddedFont>
    <p:embeddedFont>
      <p:font typeface="Roboto" charset="1" panose="02000000000000000000"/>
      <p:regular r:id="rId13"/>
    </p:embeddedFont>
    <p:embeddedFont>
      <p:font typeface="Roboto Bold" charset="1" panose="02000000000000000000"/>
      <p:regular r:id="rId14"/>
    </p:embeddedFont>
    <p:embeddedFont>
      <p:font typeface="Poppins Bold" charset="1" panose="00000800000000000000"/>
      <p:regular r:id="rId15"/>
    </p:embeddedFont>
    <p:embeddedFont>
      <p:font typeface="Poppins"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TextBox 2" id="2"/>
          <p:cNvSpPr txBox="true"/>
          <p:nvPr/>
        </p:nvSpPr>
        <p:spPr>
          <a:xfrm rot="0">
            <a:off x="2861997" y="2093435"/>
            <a:ext cx="12004802" cy="2010708"/>
          </a:xfrm>
          <a:prstGeom prst="rect">
            <a:avLst/>
          </a:prstGeom>
        </p:spPr>
        <p:txBody>
          <a:bodyPr anchor="t" rtlCol="false" tIns="0" lIns="0" bIns="0" rIns="0">
            <a:spAutoFit/>
          </a:bodyPr>
          <a:lstStyle/>
          <a:p>
            <a:pPr algn="l" marL="0" indent="0" lvl="0">
              <a:lnSpc>
                <a:spcPts val="7722"/>
              </a:lnSpc>
            </a:pPr>
            <a:r>
              <a:rPr lang="en-US" b="true" sz="8129">
                <a:gradFill>
                  <a:gsLst>
                    <a:gs pos="0">
                      <a:srgbClr val="5DE0E6">
                        <a:alpha val="100000"/>
                      </a:srgbClr>
                    </a:gs>
                    <a:gs pos="100000">
                      <a:srgbClr val="004AAD">
                        <a:alpha val="100000"/>
                      </a:srgbClr>
                    </a:gs>
                  </a:gsLst>
                  <a:lin ang="0"/>
                </a:gradFill>
                <a:latin typeface="Lora Bold"/>
                <a:ea typeface="Lora Bold"/>
                <a:cs typeface="Lora Bold"/>
                <a:sym typeface="Lora Bold"/>
              </a:rPr>
              <a:t>INTELLIGENT EXAM PROCTORING SYSTEM</a:t>
            </a:r>
          </a:p>
        </p:txBody>
      </p:sp>
      <p:sp>
        <p:nvSpPr>
          <p:cNvPr name="Freeform 3" id="3"/>
          <p:cNvSpPr/>
          <p:nvPr/>
        </p:nvSpPr>
        <p:spPr>
          <a:xfrm flipH="false" flipV="false" rot="934430">
            <a:off x="-3181714" y="5359051"/>
            <a:ext cx="8047880" cy="8132468"/>
          </a:xfrm>
          <a:custGeom>
            <a:avLst/>
            <a:gdLst/>
            <a:ahLst/>
            <a:cxnLst/>
            <a:rect r="r" b="b" t="t" l="l"/>
            <a:pathLst>
              <a:path h="8132468" w="8047880">
                <a:moveTo>
                  <a:pt x="0" y="0"/>
                </a:moveTo>
                <a:lnTo>
                  <a:pt x="8047881" y="0"/>
                </a:lnTo>
                <a:lnTo>
                  <a:pt x="8047881" y="8132468"/>
                </a:lnTo>
                <a:lnTo>
                  <a:pt x="0" y="81324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82485" y="7538373"/>
            <a:ext cx="4139886" cy="2280144"/>
          </a:xfrm>
          <a:custGeom>
            <a:avLst/>
            <a:gdLst/>
            <a:ahLst/>
            <a:cxnLst/>
            <a:rect r="r" b="b" t="t" l="l"/>
            <a:pathLst>
              <a:path h="2280144" w="4139886">
                <a:moveTo>
                  <a:pt x="0" y="0"/>
                </a:moveTo>
                <a:lnTo>
                  <a:pt x="4139886" y="0"/>
                </a:lnTo>
                <a:lnTo>
                  <a:pt x="4139886" y="2280144"/>
                </a:lnTo>
                <a:lnTo>
                  <a:pt x="0" y="22801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8081" y="329980"/>
            <a:ext cx="2633915" cy="2220600"/>
          </a:xfrm>
          <a:custGeom>
            <a:avLst/>
            <a:gdLst/>
            <a:ahLst/>
            <a:cxnLst/>
            <a:rect r="r" b="b" t="t" l="l"/>
            <a:pathLst>
              <a:path h="2220600" w="2633915">
                <a:moveTo>
                  <a:pt x="0" y="0"/>
                </a:moveTo>
                <a:lnTo>
                  <a:pt x="2633916" y="0"/>
                </a:lnTo>
                <a:lnTo>
                  <a:pt x="2633916" y="2220599"/>
                </a:lnTo>
                <a:lnTo>
                  <a:pt x="0" y="2220599"/>
                </a:lnTo>
                <a:lnTo>
                  <a:pt x="0" y="0"/>
                </a:lnTo>
                <a:close/>
              </a:path>
            </a:pathLst>
          </a:custGeom>
          <a:blipFill>
            <a:blip r:embed="rId6"/>
            <a:stretch>
              <a:fillRect l="-337" t="0" r="-337" b="0"/>
            </a:stretch>
          </a:blipFill>
        </p:spPr>
      </p:sp>
      <p:sp>
        <p:nvSpPr>
          <p:cNvPr name="Freeform 6" id="6"/>
          <p:cNvSpPr/>
          <p:nvPr/>
        </p:nvSpPr>
        <p:spPr>
          <a:xfrm flipH="false" flipV="false" rot="0">
            <a:off x="14381228" y="0"/>
            <a:ext cx="3541143" cy="2440606"/>
          </a:xfrm>
          <a:custGeom>
            <a:avLst/>
            <a:gdLst/>
            <a:ahLst/>
            <a:cxnLst/>
            <a:rect r="r" b="b" t="t" l="l"/>
            <a:pathLst>
              <a:path h="2440606" w="3541143">
                <a:moveTo>
                  <a:pt x="0" y="0"/>
                </a:moveTo>
                <a:lnTo>
                  <a:pt x="3541143" y="0"/>
                </a:lnTo>
                <a:lnTo>
                  <a:pt x="3541143" y="2440606"/>
                </a:lnTo>
                <a:lnTo>
                  <a:pt x="0" y="2440606"/>
                </a:lnTo>
                <a:lnTo>
                  <a:pt x="0" y="0"/>
                </a:lnTo>
                <a:close/>
              </a:path>
            </a:pathLst>
          </a:custGeom>
          <a:blipFill>
            <a:blip r:embed="rId7"/>
            <a:stretch>
              <a:fillRect l="0" t="-7845" r="0" b="0"/>
            </a:stretch>
          </a:blipFill>
        </p:spPr>
      </p:sp>
      <p:sp>
        <p:nvSpPr>
          <p:cNvPr name="TextBox 7" id="7"/>
          <p:cNvSpPr txBox="true"/>
          <p:nvPr/>
        </p:nvSpPr>
        <p:spPr>
          <a:xfrm rot="0">
            <a:off x="3057920" y="5128896"/>
            <a:ext cx="14201380" cy="377735"/>
          </a:xfrm>
          <a:prstGeom prst="rect">
            <a:avLst/>
          </a:prstGeom>
        </p:spPr>
        <p:txBody>
          <a:bodyPr anchor="t" rtlCol="false" tIns="0" lIns="0" bIns="0" rIns="0">
            <a:spAutoFit/>
          </a:bodyPr>
          <a:lstStyle/>
          <a:p>
            <a:pPr algn="l" marL="0" indent="0" lvl="0">
              <a:lnSpc>
                <a:spcPts val="2752"/>
              </a:lnSpc>
            </a:pPr>
            <a:r>
              <a:rPr lang="en-US" sz="2897">
                <a:solidFill>
                  <a:srgbClr val="1C74BB"/>
                </a:solidFill>
                <a:latin typeface="Roboto"/>
                <a:ea typeface="Roboto"/>
                <a:cs typeface="Roboto"/>
                <a:sym typeface="Roboto"/>
              </a:rPr>
              <a:t>Course Name: </a:t>
            </a:r>
            <a:r>
              <a:rPr lang="en-US" b="true" sz="2897">
                <a:solidFill>
                  <a:srgbClr val="2D446E"/>
                </a:solidFill>
                <a:latin typeface="Roboto Bold"/>
                <a:ea typeface="Roboto Bold"/>
                <a:cs typeface="Roboto Bold"/>
                <a:sym typeface="Roboto Bold"/>
              </a:rPr>
              <a:t>COMPUTATIONAL FOUNDATIONS FOR ARTIFICIAL INTELLIGENCE</a:t>
            </a:r>
          </a:p>
        </p:txBody>
      </p:sp>
      <p:sp>
        <p:nvSpPr>
          <p:cNvPr name="TextBox 8" id="8"/>
          <p:cNvSpPr txBox="true"/>
          <p:nvPr/>
        </p:nvSpPr>
        <p:spPr>
          <a:xfrm rot="0">
            <a:off x="3057920" y="6798150"/>
            <a:ext cx="8213562" cy="2242707"/>
          </a:xfrm>
          <a:prstGeom prst="rect">
            <a:avLst/>
          </a:prstGeom>
        </p:spPr>
        <p:txBody>
          <a:bodyPr anchor="t" rtlCol="false" tIns="0" lIns="0" bIns="0" rIns="0">
            <a:spAutoFit/>
          </a:bodyPr>
          <a:lstStyle/>
          <a:p>
            <a:pPr algn="l">
              <a:lnSpc>
                <a:spcPts val="3592"/>
              </a:lnSpc>
            </a:pPr>
            <a:r>
              <a:rPr lang="en-US" sz="2897">
                <a:solidFill>
                  <a:srgbClr val="1C74BB"/>
                </a:solidFill>
                <a:latin typeface="Roboto"/>
                <a:ea typeface="Roboto"/>
                <a:cs typeface="Roboto"/>
                <a:sym typeface="Roboto"/>
              </a:rPr>
              <a:t>Team Members:</a:t>
            </a:r>
          </a:p>
          <a:p>
            <a:pPr algn="l">
              <a:lnSpc>
                <a:spcPts val="3592"/>
              </a:lnSpc>
            </a:pPr>
            <a:r>
              <a:rPr lang="en-US" sz="2897" b="true">
                <a:solidFill>
                  <a:srgbClr val="2D446E"/>
                </a:solidFill>
                <a:latin typeface="Roboto Bold"/>
                <a:ea typeface="Roboto Bold"/>
                <a:cs typeface="Roboto Bold"/>
                <a:sym typeface="Roboto Bold"/>
              </a:rPr>
              <a:t>Sai Sharan Rangaraj Cholkar-2520030128</a:t>
            </a:r>
          </a:p>
          <a:p>
            <a:pPr algn="l">
              <a:lnSpc>
                <a:spcPts val="3592"/>
              </a:lnSpc>
            </a:pPr>
            <a:r>
              <a:rPr lang="en-US" sz="2897" b="true">
                <a:solidFill>
                  <a:srgbClr val="2D446E"/>
                </a:solidFill>
                <a:latin typeface="Roboto Bold"/>
                <a:ea typeface="Roboto Bold"/>
                <a:cs typeface="Roboto Bold"/>
                <a:sym typeface="Roboto Bold"/>
              </a:rPr>
              <a:t>Kompelli Saanvi-2520030083</a:t>
            </a:r>
          </a:p>
          <a:p>
            <a:pPr algn="l">
              <a:lnSpc>
                <a:spcPts val="3592"/>
              </a:lnSpc>
            </a:pPr>
            <a:r>
              <a:rPr lang="en-US" sz="2897" b="true">
                <a:solidFill>
                  <a:srgbClr val="2D446E"/>
                </a:solidFill>
                <a:latin typeface="Roboto Bold"/>
                <a:ea typeface="Roboto Bold"/>
                <a:cs typeface="Roboto Bold"/>
                <a:sym typeface="Roboto Bold"/>
              </a:rPr>
              <a:t>Ketana Sindhu Somishetty-2520030487</a:t>
            </a:r>
          </a:p>
          <a:p>
            <a:pPr algn="l" marL="0" indent="0" lvl="0">
              <a:lnSpc>
                <a:spcPts val="3592"/>
              </a:lnSpc>
            </a:pPr>
          </a:p>
        </p:txBody>
      </p:sp>
      <p:sp>
        <p:nvSpPr>
          <p:cNvPr name="TextBox 9" id="9"/>
          <p:cNvSpPr txBox="true"/>
          <p:nvPr/>
        </p:nvSpPr>
        <p:spPr>
          <a:xfrm rot="0">
            <a:off x="3057920" y="8880565"/>
            <a:ext cx="14864451" cy="377735"/>
          </a:xfrm>
          <a:prstGeom prst="rect">
            <a:avLst/>
          </a:prstGeom>
        </p:spPr>
        <p:txBody>
          <a:bodyPr anchor="t" rtlCol="false" tIns="0" lIns="0" bIns="0" rIns="0">
            <a:spAutoFit/>
          </a:bodyPr>
          <a:lstStyle/>
          <a:p>
            <a:pPr algn="l" marL="0" indent="0" lvl="0">
              <a:lnSpc>
                <a:spcPts val="2752"/>
              </a:lnSpc>
            </a:pPr>
            <a:r>
              <a:rPr lang="en-US" sz="2897">
                <a:solidFill>
                  <a:srgbClr val="1C74BB"/>
                </a:solidFill>
                <a:latin typeface="Roboto"/>
                <a:ea typeface="Roboto"/>
                <a:cs typeface="Roboto"/>
                <a:sym typeface="Roboto"/>
              </a:rPr>
              <a:t>Batch No: </a:t>
            </a:r>
            <a:r>
              <a:rPr lang="en-US" b="true" sz="2897">
                <a:solidFill>
                  <a:srgbClr val="2D446E"/>
                </a:solidFill>
                <a:latin typeface="Roboto Bold"/>
                <a:ea typeface="Roboto Bold"/>
                <a:cs typeface="Roboto Bold"/>
                <a:sym typeface="Roboto Bold"/>
              </a:rPr>
              <a:t>5</a:t>
            </a:r>
          </a:p>
        </p:txBody>
      </p:sp>
      <p:sp>
        <p:nvSpPr>
          <p:cNvPr name="TextBox 10" id="10"/>
          <p:cNvSpPr txBox="true"/>
          <p:nvPr/>
        </p:nvSpPr>
        <p:spPr>
          <a:xfrm rot="0">
            <a:off x="3057920" y="6001931"/>
            <a:ext cx="14864451" cy="377735"/>
          </a:xfrm>
          <a:prstGeom prst="rect">
            <a:avLst/>
          </a:prstGeom>
        </p:spPr>
        <p:txBody>
          <a:bodyPr anchor="t" rtlCol="false" tIns="0" lIns="0" bIns="0" rIns="0">
            <a:spAutoFit/>
          </a:bodyPr>
          <a:lstStyle/>
          <a:p>
            <a:pPr algn="l" marL="0" indent="0" lvl="0">
              <a:lnSpc>
                <a:spcPts val="2752"/>
              </a:lnSpc>
            </a:pPr>
            <a:r>
              <a:rPr lang="en-US" sz="2897">
                <a:solidFill>
                  <a:srgbClr val="1C74BB"/>
                </a:solidFill>
                <a:latin typeface="Roboto"/>
                <a:ea typeface="Roboto"/>
                <a:cs typeface="Roboto"/>
                <a:sym typeface="Roboto"/>
              </a:rPr>
              <a:t>Section: </a:t>
            </a:r>
            <a:r>
              <a:rPr lang="en-US" b="true" sz="2897">
                <a:solidFill>
                  <a:srgbClr val="2D446E"/>
                </a:solidFill>
                <a:latin typeface="Roboto Bold"/>
                <a:ea typeface="Roboto Bold"/>
                <a:cs typeface="Roboto Bold"/>
                <a:sym typeface="Roboto Bold"/>
              </a:rPr>
              <a:t>12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Freeform 2" id="2"/>
          <p:cNvSpPr/>
          <p:nvPr/>
        </p:nvSpPr>
        <p:spPr>
          <a:xfrm flipH="false" flipV="false" rot="-3855666">
            <a:off x="15046734" y="6345056"/>
            <a:ext cx="5662001" cy="5721512"/>
          </a:xfrm>
          <a:custGeom>
            <a:avLst/>
            <a:gdLst/>
            <a:ahLst/>
            <a:cxnLst/>
            <a:rect r="r" b="b" t="t" l="l"/>
            <a:pathLst>
              <a:path h="5721512" w="5662001">
                <a:moveTo>
                  <a:pt x="0" y="0"/>
                </a:moveTo>
                <a:lnTo>
                  <a:pt x="5662001" y="0"/>
                </a:lnTo>
                <a:lnTo>
                  <a:pt x="5662001"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1374">
            <a:off x="-1084773" y="-3327728"/>
            <a:ext cx="5662001" cy="5721512"/>
          </a:xfrm>
          <a:custGeom>
            <a:avLst/>
            <a:gdLst/>
            <a:ahLst/>
            <a:cxnLst/>
            <a:rect r="r" b="b" t="t" l="l"/>
            <a:pathLst>
              <a:path h="5721512" w="5662001">
                <a:moveTo>
                  <a:pt x="0" y="0"/>
                </a:moveTo>
                <a:lnTo>
                  <a:pt x="5662002" y="0"/>
                </a:lnTo>
                <a:lnTo>
                  <a:pt x="5662002"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764456" y="9205812"/>
            <a:ext cx="11234139" cy="52488"/>
            <a:chOff x="0" y="0"/>
            <a:chExt cx="635000" cy="2967"/>
          </a:xfrm>
        </p:grpSpPr>
        <p:sp>
          <p:nvSpPr>
            <p:cNvPr name="Freeform 5" id="5"/>
            <p:cNvSpPr/>
            <p:nvPr/>
          </p:nvSpPr>
          <p:spPr>
            <a:xfrm flipH="false" flipV="false" rot="0">
              <a:off x="0" y="0"/>
              <a:ext cx="635000" cy="2967"/>
            </a:xfrm>
            <a:custGeom>
              <a:avLst/>
              <a:gdLst/>
              <a:ahLst/>
              <a:cxnLst/>
              <a:rect r="r" b="b" t="t" l="l"/>
              <a:pathLst>
                <a:path h="2967" w="635000">
                  <a:moveTo>
                    <a:pt x="0" y="0"/>
                  </a:moveTo>
                  <a:lnTo>
                    <a:pt x="635000" y="0"/>
                  </a:lnTo>
                  <a:lnTo>
                    <a:pt x="635000" y="2967"/>
                  </a:lnTo>
                  <a:lnTo>
                    <a:pt x="0" y="2967"/>
                  </a:lnTo>
                  <a:close/>
                </a:path>
              </a:pathLst>
            </a:custGeom>
            <a:solidFill>
              <a:srgbClr val="81C1F4"/>
            </a:solidFill>
          </p:spPr>
        </p:sp>
        <p:sp>
          <p:nvSpPr>
            <p:cNvPr name="TextBox 6" id="6"/>
            <p:cNvSpPr txBox="true"/>
            <p:nvPr/>
          </p:nvSpPr>
          <p:spPr>
            <a:xfrm>
              <a:off x="0" y="-38100"/>
              <a:ext cx="635000" cy="41067"/>
            </a:xfrm>
            <a:prstGeom prst="rect">
              <a:avLst/>
            </a:prstGeom>
          </p:spPr>
          <p:txBody>
            <a:bodyPr anchor="ctr" rtlCol="false" tIns="50800" lIns="50800" bIns="50800" rIns="50800"/>
            <a:lstStyle/>
            <a:p>
              <a:pPr algn="ctr" marL="0" indent="0" lvl="0">
                <a:lnSpc>
                  <a:spcPts val="2659"/>
                </a:lnSpc>
              </a:pPr>
            </a:p>
          </p:txBody>
        </p:sp>
      </p:grpSp>
      <p:sp>
        <p:nvSpPr>
          <p:cNvPr name="Freeform 7" id="7"/>
          <p:cNvSpPr/>
          <p:nvPr/>
        </p:nvSpPr>
        <p:spPr>
          <a:xfrm flipH="false" flipV="false" rot="0">
            <a:off x="1552378" y="3921494"/>
            <a:ext cx="829060" cy="829060"/>
          </a:xfrm>
          <a:custGeom>
            <a:avLst/>
            <a:gdLst/>
            <a:ahLst/>
            <a:cxnLst/>
            <a:rect r="r" b="b" t="t" l="l"/>
            <a:pathLst>
              <a:path h="829060" w="829060">
                <a:moveTo>
                  <a:pt x="0" y="0"/>
                </a:moveTo>
                <a:lnTo>
                  <a:pt x="829060" y="0"/>
                </a:lnTo>
                <a:lnTo>
                  <a:pt x="829060" y="829060"/>
                </a:lnTo>
                <a:lnTo>
                  <a:pt x="0" y="8290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764456" y="2454983"/>
            <a:ext cx="9661250" cy="1038620"/>
          </a:xfrm>
          <a:prstGeom prst="rect">
            <a:avLst/>
          </a:prstGeom>
        </p:spPr>
        <p:txBody>
          <a:bodyPr anchor="t" rtlCol="false" tIns="0" lIns="0" bIns="0" rIns="0">
            <a:spAutoFit/>
          </a:bodyPr>
          <a:lstStyle/>
          <a:p>
            <a:pPr algn="l" marL="0" indent="0" lvl="0">
              <a:lnSpc>
                <a:spcPts val="7706"/>
              </a:lnSpc>
            </a:pPr>
            <a:r>
              <a:rPr lang="en-US" b="true" sz="8112">
                <a:gradFill>
                  <a:gsLst>
                    <a:gs pos="0">
                      <a:srgbClr val="5DE0E6">
                        <a:alpha val="100000"/>
                      </a:srgbClr>
                    </a:gs>
                    <a:gs pos="100000">
                      <a:srgbClr val="004AAD">
                        <a:alpha val="100000"/>
                      </a:srgbClr>
                    </a:gs>
                  </a:gsLst>
                  <a:lin ang="0"/>
                </a:gradFill>
                <a:latin typeface="Lora Bold"/>
                <a:ea typeface="Lora Bold"/>
                <a:cs typeface="Lora Bold"/>
                <a:sym typeface="Lora Bold"/>
              </a:rPr>
              <a:t>INTRO</a:t>
            </a:r>
          </a:p>
        </p:txBody>
      </p:sp>
      <p:sp>
        <p:nvSpPr>
          <p:cNvPr name="TextBox 9" id="9"/>
          <p:cNvSpPr txBox="true"/>
          <p:nvPr/>
        </p:nvSpPr>
        <p:spPr>
          <a:xfrm rot="0">
            <a:off x="2852167" y="3921494"/>
            <a:ext cx="11219228" cy="4283560"/>
          </a:xfrm>
          <a:prstGeom prst="rect">
            <a:avLst/>
          </a:prstGeom>
        </p:spPr>
        <p:txBody>
          <a:bodyPr anchor="t" rtlCol="false" tIns="0" lIns="0" bIns="0" rIns="0">
            <a:spAutoFit/>
          </a:bodyPr>
          <a:lstStyle/>
          <a:p>
            <a:pPr algn="just" marL="0" indent="0" lvl="0">
              <a:lnSpc>
                <a:spcPts val="2447"/>
              </a:lnSpc>
            </a:pPr>
            <a:r>
              <a:rPr lang="en-US" b="true" sz="2146">
                <a:solidFill>
                  <a:srgbClr val="1C74BB"/>
                </a:solidFill>
                <a:latin typeface="Roboto Bold"/>
                <a:ea typeface="Roboto Bold"/>
                <a:cs typeface="Roboto Bold"/>
                <a:sym typeface="Roboto Bold"/>
              </a:rPr>
              <a:t>The Intel</a:t>
            </a:r>
            <a:r>
              <a:rPr lang="en-US" b="true" sz="2146">
                <a:solidFill>
                  <a:srgbClr val="1C74BB"/>
                </a:solidFill>
                <a:latin typeface="Roboto Bold"/>
                <a:ea typeface="Roboto Bold"/>
                <a:cs typeface="Roboto Bold"/>
                <a:sym typeface="Roboto Bold"/>
              </a:rPr>
              <a:t>ligent Exam Proctoring System is an AI-based system designed to monitor students during online examinations and detect suspicious activities automatically. The system captures student behavior through webcam, audio, and browser monitoring. It identifies activities such as looking away repeatedly, multiple faces detection, mobile phone usage, no face visibility, whispering, tab switching, sudden brightness changes, frequent head movement, and leaving the seat.</a:t>
            </a:r>
          </a:p>
          <a:p>
            <a:pPr algn="just" marL="0" indent="0" lvl="0">
              <a:lnSpc>
                <a:spcPts val="2447"/>
              </a:lnSpc>
            </a:pPr>
          </a:p>
          <a:p>
            <a:pPr algn="just" marL="0" indent="0" lvl="0">
              <a:lnSpc>
                <a:spcPts val="2447"/>
              </a:lnSpc>
            </a:pPr>
            <a:r>
              <a:rPr lang="en-US" b="true" sz="2146">
                <a:solidFill>
                  <a:srgbClr val="1C74BB"/>
                </a:solidFill>
                <a:latin typeface="Roboto Bold"/>
                <a:ea typeface="Roboto Bold"/>
                <a:cs typeface="Roboto Bold"/>
                <a:sym typeface="Roboto Bold"/>
              </a:rPr>
              <a:t>The project uses rule-based reasoning and uncertainty handling to decide whether a behavior is suspicious. It also provides explanations for why a student was flagged, making the system transparent and reliable. This system helps educational institutions conduct secure, fair, and efficient online examinations while reducing manual monitoring effort.</a:t>
            </a:r>
          </a:p>
          <a:p>
            <a:pPr algn="just" marL="0" indent="0" lvl="0">
              <a:lnSpc>
                <a:spcPts val="2447"/>
              </a:lnSpc>
            </a:pPr>
          </a:p>
          <a:p>
            <a:pPr algn="just" marL="0" indent="0" lvl="0">
              <a:lnSpc>
                <a:spcPts val="2447"/>
              </a:lnSpc>
            </a:pPr>
          </a:p>
          <a:p>
            <a:pPr algn="just" marL="0" indent="0" lvl="0">
              <a:lnSpc>
                <a:spcPts val="244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TextBox 2" id="2"/>
          <p:cNvSpPr txBox="true"/>
          <p:nvPr/>
        </p:nvSpPr>
        <p:spPr>
          <a:xfrm rot="0">
            <a:off x="2764456" y="2454983"/>
            <a:ext cx="13073588" cy="1038620"/>
          </a:xfrm>
          <a:prstGeom prst="rect">
            <a:avLst/>
          </a:prstGeom>
        </p:spPr>
        <p:txBody>
          <a:bodyPr anchor="t" rtlCol="false" tIns="0" lIns="0" bIns="0" rIns="0">
            <a:spAutoFit/>
          </a:bodyPr>
          <a:lstStyle/>
          <a:p>
            <a:pPr algn="l" marL="0" indent="0" lvl="0">
              <a:lnSpc>
                <a:spcPts val="7706"/>
              </a:lnSpc>
            </a:pPr>
            <a:r>
              <a:rPr lang="en-US" b="true" sz="8112">
                <a:gradFill>
                  <a:gsLst>
                    <a:gs pos="0">
                      <a:srgbClr val="5DE0E6">
                        <a:alpha val="100000"/>
                      </a:srgbClr>
                    </a:gs>
                    <a:gs pos="100000">
                      <a:srgbClr val="004AAD">
                        <a:alpha val="100000"/>
                      </a:srgbClr>
                    </a:gs>
                  </a:gsLst>
                  <a:lin ang="0"/>
                </a:gradFill>
                <a:latin typeface="Lora Bold"/>
                <a:ea typeface="Lora Bold"/>
                <a:cs typeface="Lora Bold"/>
                <a:sym typeface="Lora Bold"/>
              </a:rPr>
              <a:t>TECHNOLOGIES USED-</a:t>
            </a:r>
          </a:p>
        </p:txBody>
      </p:sp>
      <p:sp>
        <p:nvSpPr>
          <p:cNvPr name="Freeform 3" id="3"/>
          <p:cNvSpPr/>
          <p:nvPr/>
        </p:nvSpPr>
        <p:spPr>
          <a:xfrm flipH="false" flipV="false" rot="-3855666">
            <a:off x="15046734" y="6345056"/>
            <a:ext cx="5662001" cy="5721512"/>
          </a:xfrm>
          <a:custGeom>
            <a:avLst/>
            <a:gdLst/>
            <a:ahLst/>
            <a:cxnLst/>
            <a:rect r="r" b="b" t="t" l="l"/>
            <a:pathLst>
              <a:path h="5721512" w="5662001">
                <a:moveTo>
                  <a:pt x="0" y="0"/>
                </a:moveTo>
                <a:lnTo>
                  <a:pt x="5662001" y="0"/>
                </a:lnTo>
                <a:lnTo>
                  <a:pt x="5662001"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721374">
            <a:off x="-1084773" y="-3327728"/>
            <a:ext cx="5662001" cy="5721512"/>
          </a:xfrm>
          <a:custGeom>
            <a:avLst/>
            <a:gdLst/>
            <a:ahLst/>
            <a:cxnLst/>
            <a:rect r="r" b="b" t="t" l="l"/>
            <a:pathLst>
              <a:path h="5721512" w="5662001">
                <a:moveTo>
                  <a:pt x="0" y="0"/>
                </a:moveTo>
                <a:lnTo>
                  <a:pt x="5662002" y="0"/>
                </a:lnTo>
                <a:lnTo>
                  <a:pt x="5662002"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2764456" y="9205812"/>
            <a:ext cx="11234139" cy="52488"/>
            <a:chOff x="0" y="0"/>
            <a:chExt cx="635000" cy="2967"/>
          </a:xfrm>
        </p:grpSpPr>
        <p:sp>
          <p:nvSpPr>
            <p:cNvPr name="Freeform 6" id="6"/>
            <p:cNvSpPr/>
            <p:nvPr/>
          </p:nvSpPr>
          <p:spPr>
            <a:xfrm flipH="false" flipV="false" rot="0">
              <a:off x="0" y="0"/>
              <a:ext cx="635000" cy="2967"/>
            </a:xfrm>
            <a:custGeom>
              <a:avLst/>
              <a:gdLst/>
              <a:ahLst/>
              <a:cxnLst/>
              <a:rect r="r" b="b" t="t" l="l"/>
              <a:pathLst>
                <a:path h="2967" w="635000">
                  <a:moveTo>
                    <a:pt x="0" y="0"/>
                  </a:moveTo>
                  <a:lnTo>
                    <a:pt x="635000" y="0"/>
                  </a:lnTo>
                  <a:lnTo>
                    <a:pt x="635000" y="2967"/>
                  </a:lnTo>
                  <a:lnTo>
                    <a:pt x="0" y="2967"/>
                  </a:lnTo>
                  <a:close/>
                </a:path>
              </a:pathLst>
            </a:custGeom>
            <a:solidFill>
              <a:srgbClr val="81C1F4"/>
            </a:solidFill>
          </p:spPr>
        </p:sp>
        <p:sp>
          <p:nvSpPr>
            <p:cNvPr name="TextBox 7" id="7"/>
            <p:cNvSpPr txBox="true"/>
            <p:nvPr/>
          </p:nvSpPr>
          <p:spPr>
            <a:xfrm>
              <a:off x="0" y="-38100"/>
              <a:ext cx="635000" cy="41067"/>
            </a:xfrm>
            <a:prstGeom prst="rect">
              <a:avLst/>
            </a:prstGeom>
          </p:spPr>
          <p:txBody>
            <a:bodyPr anchor="ctr" rtlCol="false" tIns="50800" lIns="50800" bIns="50800" rIns="50800"/>
            <a:lstStyle/>
            <a:p>
              <a:pPr algn="ctr" marL="0" indent="0" lvl="0">
                <a:lnSpc>
                  <a:spcPts val="2659"/>
                </a:lnSpc>
              </a:pPr>
            </a:p>
          </p:txBody>
        </p:sp>
      </p:grpSp>
      <p:sp>
        <p:nvSpPr>
          <p:cNvPr name="TextBox 8" id="8"/>
          <p:cNvSpPr txBox="true"/>
          <p:nvPr/>
        </p:nvSpPr>
        <p:spPr>
          <a:xfrm rot="0">
            <a:off x="10070868" y="4115274"/>
            <a:ext cx="12222365" cy="3916285"/>
          </a:xfrm>
          <a:prstGeom prst="rect">
            <a:avLst/>
          </a:prstGeom>
        </p:spPr>
        <p:txBody>
          <a:bodyPr anchor="t" rtlCol="false" tIns="0" lIns="0" bIns="0" rIns="0">
            <a:spAutoFit/>
          </a:bodyPr>
          <a:lstStyle/>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MediaPipe</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Webcam Monitoring</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Browser Activity Monitoring</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Audio &amp; Behaviour Analysis</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Speech Recognition</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Event Detection</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Database &amp; Data Processing</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SQLite / MySQL</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NumPy &amp; Pandas</a:t>
            </a:r>
          </a:p>
          <a:p>
            <a:pPr algn="just" marL="0" indent="0" lvl="0">
              <a:lnSpc>
                <a:spcPts val="3075"/>
              </a:lnSpc>
            </a:pPr>
          </a:p>
        </p:txBody>
      </p:sp>
      <p:sp>
        <p:nvSpPr>
          <p:cNvPr name="TextBox 9" id="9"/>
          <p:cNvSpPr txBox="true"/>
          <p:nvPr/>
        </p:nvSpPr>
        <p:spPr>
          <a:xfrm rot="0">
            <a:off x="2270343" y="4148849"/>
            <a:ext cx="12222365" cy="3525760"/>
          </a:xfrm>
          <a:prstGeom prst="rect">
            <a:avLst/>
          </a:prstGeom>
        </p:spPr>
        <p:txBody>
          <a:bodyPr anchor="t" rtlCol="false" tIns="0" lIns="0" bIns="0" rIns="0">
            <a:spAutoFit/>
          </a:bodyPr>
          <a:lstStyle/>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Program</a:t>
            </a:r>
            <a:r>
              <a:rPr lang="en-US" b="true" sz="2698">
                <a:solidFill>
                  <a:srgbClr val="1C74BB"/>
                </a:solidFill>
                <a:latin typeface="Roboto Bold"/>
                <a:ea typeface="Roboto Bold"/>
                <a:cs typeface="Roboto Bold"/>
                <a:sym typeface="Roboto Bold"/>
              </a:rPr>
              <a:t>ming &amp; Development</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Python</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Flask / Streamlit</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AI &amp; Machine Learning</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TensorFlow / YOLO</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Explainable AI (XAI)</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Rule-Based System</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Computer Vision &amp; Monitoring</a:t>
            </a:r>
          </a:p>
          <a:p>
            <a:pPr algn="l" marL="582520" indent="-291260" lvl="1">
              <a:lnSpc>
                <a:spcPts val="3075"/>
              </a:lnSpc>
              <a:buFont typeface="Arial"/>
              <a:buChar char="•"/>
            </a:pPr>
            <a:r>
              <a:rPr lang="en-US" b="true" sz="2698">
                <a:solidFill>
                  <a:srgbClr val="1C74BB"/>
                </a:solidFill>
                <a:latin typeface="Roboto Bold"/>
                <a:ea typeface="Roboto Bold"/>
                <a:cs typeface="Roboto Bold"/>
                <a:sym typeface="Roboto Bold"/>
              </a:rPr>
              <a:t>OpenCV</a:t>
            </a:r>
          </a:p>
        </p:txBody>
      </p:sp>
      <p:sp>
        <p:nvSpPr>
          <p:cNvPr name="TextBox 10" id="10"/>
          <p:cNvSpPr txBox="true"/>
          <p:nvPr/>
        </p:nvSpPr>
        <p:spPr>
          <a:xfrm rot="0">
            <a:off x="2764456" y="4181949"/>
            <a:ext cx="851913" cy="807023"/>
          </a:xfrm>
          <a:prstGeom prst="rect">
            <a:avLst/>
          </a:prstGeom>
        </p:spPr>
        <p:txBody>
          <a:bodyPr anchor="t" rtlCol="false" tIns="0" lIns="0" bIns="0" rIns="0">
            <a:spAutoFit/>
          </a:bodyPr>
          <a:lstStyle/>
          <a:p>
            <a:pPr algn="l" marL="0" indent="0" lvl="0">
              <a:lnSpc>
                <a:spcPts val="5506"/>
              </a:lnSpc>
            </a:pPr>
          </a:p>
        </p:txBody>
      </p:sp>
      <p:sp>
        <p:nvSpPr>
          <p:cNvPr name="TextBox 11" id="11"/>
          <p:cNvSpPr txBox="true"/>
          <p:nvPr/>
        </p:nvSpPr>
        <p:spPr>
          <a:xfrm rot="0">
            <a:off x="2764456" y="5745573"/>
            <a:ext cx="851913" cy="807023"/>
          </a:xfrm>
          <a:prstGeom prst="rect">
            <a:avLst/>
          </a:prstGeom>
        </p:spPr>
        <p:txBody>
          <a:bodyPr anchor="t" rtlCol="false" tIns="0" lIns="0" bIns="0" rIns="0">
            <a:spAutoFit/>
          </a:bodyPr>
          <a:lstStyle/>
          <a:p>
            <a:pPr algn="l" marL="0" indent="0" lvl="0">
              <a:lnSpc>
                <a:spcPts val="5506"/>
              </a:lnSpc>
            </a:pPr>
          </a:p>
        </p:txBody>
      </p:sp>
      <p:sp>
        <p:nvSpPr>
          <p:cNvPr name="TextBox 12" id="12"/>
          <p:cNvSpPr txBox="true"/>
          <p:nvPr/>
        </p:nvSpPr>
        <p:spPr>
          <a:xfrm rot="0">
            <a:off x="2764456" y="7309197"/>
            <a:ext cx="1580066" cy="807023"/>
          </a:xfrm>
          <a:prstGeom prst="rect">
            <a:avLst/>
          </a:prstGeom>
        </p:spPr>
        <p:txBody>
          <a:bodyPr anchor="t" rtlCol="false" tIns="0" lIns="0" bIns="0" rIns="0">
            <a:spAutoFit/>
          </a:bodyPr>
          <a:lstStyle/>
          <a:p>
            <a:pPr algn="l" marL="0" indent="0" lvl="0">
              <a:lnSpc>
                <a:spcPts val="5506"/>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Freeform 2" id="2"/>
          <p:cNvSpPr/>
          <p:nvPr/>
        </p:nvSpPr>
        <p:spPr>
          <a:xfrm flipH="false" flipV="false" rot="-3855666">
            <a:off x="15046734" y="6345056"/>
            <a:ext cx="5662001" cy="5721512"/>
          </a:xfrm>
          <a:custGeom>
            <a:avLst/>
            <a:gdLst/>
            <a:ahLst/>
            <a:cxnLst/>
            <a:rect r="r" b="b" t="t" l="l"/>
            <a:pathLst>
              <a:path h="5721512" w="5662001">
                <a:moveTo>
                  <a:pt x="0" y="0"/>
                </a:moveTo>
                <a:lnTo>
                  <a:pt x="5662001" y="0"/>
                </a:lnTo>
                <a:lnTo>
                  <a:pt x="5662001"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1374">
            <a:off x="-1084773" y="-3327728"/>
            <a:ext cx="5662001" cy="5721512"/>
          </a:xfrm>
          <a:custGeom>
            <a:avLst/>
            <a:gdLst/>
            <a:ahLst/>
            <a:cxnLst/>
            <a:rect r="r" b="b" t="t" l="l"/>
            <a:pathLst>
              <a:path h="5721512" w="5662001">
                <a:moveTo>
                  <a:pt x="0" y="0"/>
                </a:moveTo>
                <a:lnTo>
                  <a:pt x="5662002" y="0"/>
                </a:lnTo>
                <a:lnTo>
                  <a:pt x="5662002"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764456" y="9205812"/>
            <a:ext cx="11234139" cy="52488"/>
            <a:chOff x="0" y="0"/>
            <a:chExt cx="635000" cy="2967"/>
          </a:xfrm>
        </p:grpSpPr>
        <p:sp>
          <p:nvSpPr>
            <p:cNvPr name="Freeform 5" id="5"/>
            <p:cNvSpPr/>
            <p:nvPr/>
          </p:nvSpPr>
          <p:spPr>
            <a:xfrm flipH="false" flipV="false" rot="0">
              <a:off x="0" y="0"/>
              <a:ext cx="635000" cy="2967"/>
            </a:xfrm>
            <a:custGeom>
              <a:avLst/>
              <a:gdLst/>
              <a:ahLst/>
              <a:cxnLst/>
              <a:rect r="r" b="b" t="t" l="l"/>
              <a:pathLst>
                <a:path h="2967" w="635000">
                  <a:moveTo>
                    <a:pt x="0" y="0"/>
                  </a:moveTo>
                  <a:lnTo>
                    <a:pt x="635000" y="0"/>
                  </a:lnTo>
                  <a:lnTo>
                    <a:pt x="635000" y="2967"/>
                  </a:lnTo>
                  <a:lnTo>
                    <a:pt x="0" y="2967"/>
                  </a:lnTo>
                  <a:close/>
                </a:path>
              </a:pathLst>
            </a:custGeom>
            <a:solidFill>
              <a:srgbClr val="81C1F4"/>
            </a:solidFill>
          </p:spPr>
        </p:sp>
        <p:sp>
          <p:nvSpPr>
            <p:cNvPr name="TextBox 6" id="6"/>
            <p:cNvSpPr txBox="true"/>
            <p:nvPr/>
          </p:nvSpPr>
          <p:spPr>
            <a:xfrm>
              <a:off x="0" y="-38100"/>
              <a:ext cx="635000" cy="41067"/>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a:grpSpLocks noChangeAspect="true"/>
          </p:cNvGrpSpPr>
          <p:nvPr/>
        </p:nvGrpSpPr>
        <p:grpSpPr>
          <a:xfrm rot="0">
            <a:off x="402767" y="4135050"/>
            <a:ext cx="3356332" cy="3356332"/>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81C1F4"/>
            </a:solidFill>
          </p:spPr>
        </p:sp>
        <p:sp>
          <p:nvSpPr>
            <p:cNvPr name="Freeform 9" id="9"/>
            <p:cNvSpPr/>
            <p:nvPr/>
          </p:nvSpPr>
          <p:spPr>
            <a:xfrm flipH="false" flipV="false" rot="0">
              <a:off x="391160" y="364490"/>
              <a:ext cx="5619750" cy="5621020"/>
            </a:xfrm>
            <a:custGeom>
              <a:avLst/>
              <a:gdLst/>
              <a:ahLst/>
              <a:cxnLst/>
              <a:rect r="r" b="b" t="t" l="l"/>
              <a:pathLst>
                <a:path h="5621020" w="561975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4"/>
              <a:stretch>
                <a:fillRect l="-11" t="0" r="-11" b="0"/>
              </a:stretch>
            </a:blipFill>
          </p:spPr>
        </p:sp>
      </p:grpSp>
      <p:sp>
        <p:nvSpPr>
          <p:cNvPr name="TextBox 10" id="10"/>
          <p:cNvSpPr txBox="true"/>
          <p:nvPr/>
        </p:nvSpPr>
        <p:spPr>
          <a:xfrm rot="0">
            <a:off x="4401439" y="4135050"/>
            <a:ext cx="11525283" cy="3814634"/>
          </a:xfrm>
          <a:prstGeom prst="rect">
            <a:avLst/>
          </a:prstGeom>
        </p:spPr>
        <p:txBody>
          <a:bodyPr anchor="t" rtlCol="false" tIns="0" lIns="0" bIns="0" rIns="0">
            <a:spAutoFit/>
          </a:bodyPr>
          <a:lstStyle/>
          <a:p>
            <a:pPr algn="just">
              <a:lnSpc>
                <a:spcPts val="3683"/>
              </a:lnSpc>
            </a:pPr>
            <a:r>
              <a:rPr lang="en-US" sz="3231" b="true">
                <a:solidFill>
                  <a:srgbClr val="1C74BB"/>
                </a:solidFill>
                <a:latin typeface="Roboto Bold"/>
                <a:ea typeface="Roboto Bold"/>
                <a:cs typeface="Roboto Bold"/>
                <a:sym typeface="Roboto Bold"/>
              </a:rPr>
              <a:t>Advantage of Proposed System</a:t>
            </a:r>
          </a:p>
          <a:p>
            <a:pPr algn="just">
              <a:lnSpc>
                <a:spcPts val="3327"/>
              </a:lnSpc>
            </a:pPr>
          </a:p>
          <a:p>
            <a:pPr algn="l" marL="630265" indent="-315132" lvl="1">
              <a:lnSpc>
                <a:spcPts val="3327"/>
              </a:lnSpc>
              <a:buFont typeface="Arial"/>
              <a:buChar char="•"/>
            </a:pPr>
            <a:r>
              <a:rPr lang="en-US" sz="2919">
                <a:solidFill>
                  <a:srgbClr val="1C74BB"/>
                </a:solidFill>
                <a:latin typeface="Roboto"/>
                <a:ea typeface="Roboto"/>
                <a:cs typeface="Roboto"/>
                <a:sym typeface="Roboto"/>
              </a:rPr>
              <a:t>Provides real-time intelligent exam monitoring</a:t>
            </a:r>
          </a:p>
          <a:p>
            <a:pPr algn="l" marL="630265" indent="-315132" lvl="1">
              <a:lnSpc>
                <a:spcPts val="3327"/>
              </a:lnSpc>
              <a:buFont typeface="Arial"/>
              <a:buChar char="•"/>
            </a:pPr>
            <a:r>
              <a:rPr lang="en-US" sz="2919">
                <a:solidFill>
                  <a:srgbClr val="1C74BB"/>
                </a:solidFill>
                <a:latin typeface="Roboto"/>
                <a:ea typeface="Roboto"/>
                <a:cs typeface="Roboto"/>
                <a:sym typeface="Roboto"/>
              </a:rPr>
              <a:t>Detects suspicious activities automatically using AI</a:t>
            </a:r>
          </a:p>
          <a:p>
            <a:pPr algn="l" marL="630265" indent="-315132" lvl="1">
              <a:lnSpc>
                <a:spcPts val="3327"/>
              </a:lnSpc>
              <a:buFont typeface="Arial"/>
              <a:buChar char="•"/>
            </a:pPr>
            <a:r>
              <a:rPr lang="en-US" sz="2919">
                <a:solidFill>
                  <a:srgbClr val="1C74BB"/>
                </a:solidFill>
                <a:latin typeface="Roboto"/>
                <a:ea typeface="Roboto"/>
                <a:cs typeface="Roboto"/>
                <a:sym typeface="Roboto"/>
              </a:rPr>
              <a:t>Reduces dependency on human invigilators</a:t>
            </a:r>
          </a:p>
          <a:p>
            <a:pPr algn="l" marL="630265" indent="-315132" lvl="1">
              <a:lnSpc>
                <a:spcPts val="3327"/>
              </a:lnSpc>
              <a:buFont typeface="Arial"/>
              <a:buChar char="•"/>
            </a:pPr>
            <a:r>
              <a:rPr lang="en-US" sz="2919">
                <a:solidFill>
                  <a:srgbClr val="1C74BB"/>
                </a:solidFill>
                <a:latin typeface="Roboto"/>
                <a:ea typeface="Roboto"/>
                <a:cs typeface="Roboto"/>
                <a:sym typeface="Roboto"/>
              </a:rPr>
              <a:t>Handles uncertainty before flagging students</a:t>
            </a:r>
          </a:p>
          <a:p>
            <a:pPr algn="l" marL="630265" indent="-315132" lvl="1">
              <a:lnSpc>
                <a:spcPts val="3327"/>
              </a:lnSpc>
              <a:buFont typeface="Arial"/>
              <a:buChar char="•"/>
            </a:pPr>
            <a:r>
              <a:rPr lang="en-US" sz="2919">
                <a:solidFill>
                  <a:srgbClr val="1C74BB"/>
                </a:solidFill>
                <a:latin typeface="Roboto"/>
                <a:ea typeface="Roboto"/>
                <a:cs typeface="Roboto"/>
                <a:sym typeface="Roboto"/>
              </a:rPr>
              <a:t>Gives explainable reasons for suspicious behaviour</a:t>
            </a:r>
          </a:p>
          <a:p>
            <a:pPr algn="l" marL="630265" indent="-315132" lvl="1">
              <a:lnSpc>
                <a:spcPts val="3327"/>
              </a:lnSpc>
              <a:buFont typeface="Arial"/>
              <a:buChar char="•"/>
            </a:pPr>
            <a:r>
              <a:rPr lang="en-US" sz="2919">
                <a:solidFill>
                  <a:srgbClr val="1C74BB"/>
                </a:solidFill>
                <a:latin typeface="Roboto"/>
                <a:ea typeface="Roboto"/>
                <a:cs typeface="Roboto"/>
                <a:sym typeface="Roboto"/>
              </a:rPr>
              <a:t>Improves fairness, transparency, and exam security</a:t>
            </a:r>
          </a:p>
          <a:p>
            <a:pPr algn="l" marL="630265" indent="-315132" lvl="1">
              <a:lnSpc>
                <a:spcPts val="3327"/>
              </a:lnSpc>
              <a:buFont typeface="Arial"/>
              <a:buChar char="•"/>
            </a:pPr>
            <a:r>
              <a:rPr lang="en-US" sz="2919">
                <a:solidFill>
                  <a:srgbClr val="1C74BB"/>
                </a:solidFill>
                <a:latin typeface="Roboto"/>
                <a:ea typeface="Roboto"/>
                <a:cs typeface="Roboto"/>
                <a:sym typeface="Roboto"/>
              </a:rPr>
              <a:t>Supports large-scale online examinations efficiently</a:t>
            </a:r>
          </a:p>
        </p:txBody>
      </p:sp>
      <p:sp>
        <p:nvSpPr>
          <p:cNvPr name="TextBox 11" id="11"/>
          <p:cNvSpPr txBox="true"/>
          <p:nvPr/>
        </p:nvSpPr>
        <p:spPr>
          <a:xfrm rot="0">
            <a:off x="2853133" y="2459778"/>
            <a:ext cx="13073588" cy="1038620"/>
          </a:xfrm>
          <a:prstGeom prst="rect">
            <a:avLst/>
          </a:prstGeom>
        </p:spPr>
        <p:txBody>
          <a:bodyPr anchor="t" rtlCol="false" tIns="0" lIns="0" bIns="0" rIns="0">
            <a:spAutoFit/>
          </a:bodyPr>
          <a:lstStyle/>
          <a:p>
            <a:pPr algn="l" marL="0" indent="0" lvl="0">
              <a:lnSpc>
                <a:spcPts val="7706"/>
              </a:lnSpc>
            </a:pPr>
            <a:r>
              <a:rPr lang="en-US" b="true" sz="8112">
                <a:gradFill>
                  <a:gsLst>
                    <a:gs pos="0">
                      <a:srgbClr val="5DE0E6">
                        <a:alpha val="100000"/>
                      </a:srgbClr>
                    </a:gs>
                    <a:gs pos="100000">
                      <a:srgbClr val="004AAD">
                        <a:alpha val="100000"/>
                      </a:srgbClr>
                    </a:gs>
                  </a:gsLst>
                  <a:lin ang="0"/>
                </a:gradFill>
                <a:latin typeface="Lora Bold"/>
                <a:ea typeface="Lora Bold"/>
                <a:cs typeface="Lora Bold"/>
                <a:sym typeface="Lora Bold"/>
              </a:rPr>
              <a:t>MOTIVATION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Freeform 2" id="2"/>
          <p:cNvSpPr/>
          <p:nvPr/>
        </p:nvSpPr>
        <p:spPr>
          <a:xfrm flipH="false" flipV="false" rot="-3855666">
            <a:off x="15046734" y="6345056"/>
            <a:ext cx="5662001" cy="5721512"/>
          </a:xfrm>
          <a:custGeom>
            <a:avLst/>
            <a:gdLst/>
            <a:ahLst/>
            <a:cxnLst/>
            <a:rect r="r" b="b" t="t" l="l"/>
            <a:pathLst>
              <a:path h="5721512" w="5662001">
                <a:moveTo>
                  <a:pt x="0" y="0"/>
                </a:moveTo>
                <a:lnTo>
                  <a:pt x="5662001" y="0"/>
                </a:lnTo>
                <a:lnTo>
                  <a:pt x="5662001"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1374">
            <a:off x="-1084773" y="-3327728"/>
            <a:ext cx="5662001" cy="5721512"/>
          </a:xfrm>
          <a:custGeom>
            <a:avLst/>
            <a:gdLst/>
            <a:ahLst/>
            <a:cxnLst/>
            <a:rect r="r" b="b" t="t" l="l"/>
            <a:pathLst>
              <a:path h="5721512" w="5662001">
                <a:moveTo>
                  <a:pt x="0" y="0"/>
                </a:moveTo>
                <a:lnTo>
                  <a:pt x="5662002" y="0"/>
                </a:lnTo>
                <a:lnTo>
                  <a:pt x="5662002" y="5721512"/>
                </a:lnTo>
                <a:lnTo>
                  <a:pt x="0" y="5721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715390" y="8128033"/>
            <a:ext cx="1566543" cy="156654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7D8F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2764456" y="9205812"/>
            <a:ext cx="11234139" cy="52488"/>
            <a:chOff x="0" y="0"/>
            <a:chExt cx="635000" cy="2967"/>
          </a:xfrm>
        </p:grpSpPr>
        <p:sp>
          <p:nvSpPr>
            <p:cNvPr name="Freeform 8" id="8"/>
            <p:cNvSpPr/>
            <p:nvPr/>
          </p:nvSpPr>
          <p:spPr>
            <a:xfrm flipH="false" flipV="false" rot="0">
              <a:off x="0" y="0"/>
              <a:ext cx="635000" cy="2967"/>
            </a:xfrm>
            <a:custGeom>
              <a:avLst/>
              <a:gdLst/>
              <a:ahLst/>
              <a:cxnLst/>
              <a:rect r="r" b="b" t="t" l="l"/>
              <a:pathLst>
                <a:path h="2967" w="635000">
                  <a:moveTo>
                    <a:pt x="0" y="0"/>
                  </a:moveTo>
                  <a:lnTo>
                    <a:pt x="635000" y="0"/>
                  </a:lnTo>
                  <a:lnTo>
                    <a:pt x="635000" y="2967"/>
                  </a:lnTo>
                  <a:lnTo>
                    <a:pt x="0" y="2967"/>
                  </a:lnTo>
                  <a:close/>
                </a:path>
              </a:pathLst>
            </a:custGeom>
            <a:solidFill>
              <a:srgbClr val="81C1F4"/>
            </a:solidFill>
          </p:spPr>
        </p:sp>
        <p:sp>
          <p:nvSpPr>
            <p:cNvPr name="TextBox 9" id="9"/>
            <p:cNvSpPr txBox="true"/>
            <p:nvPr/>
          </p:nvSpPr>
          <p:spPr>
            <a:xfrm>
              <a:off x="0" y="-38100"/>
              <a:ext cx="635000" cy="41067"/>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2846205" y="4334266"/>
            <a:ext cx="12595589" cy="2158175"/>
            <a:chOff x="0" y="0"/>
            <a:chExt cx="1162605" cy="199205"/>
          </a:xfrm>
        </p:grpSpPr>
        <p:sp>
          <p:nvSpPr>
            <p:cNvPr name="Freeform 11" id="11"/>
            <p:cNvSpPr/>
            <p:nvPr/>
          </p:nvSpPr>
          <p:spPr>
            <a:xfrm flipH="false" flipV="false" rot="0">
              <a:off x="0" y="0"/>
              <a:ext cx="1162605" cy="199205"/>
            </a:xfrm>
            <a:custGeom>
              <a:avLst/>
              <a:gdLst/>
              <a:ahLst/>
              <a:cxnLst/>
              <a:rect r="r" b="b" t="t" l="l"/>
              <a:pathLst>
                <a:path h="199205" w="1162605">
                  <a:moveTo>
                    <a:pt x="12005" y="0"/>
                  </a:moveTo>
                  <a:lnTo>
                    <a:pt x="1150600" y="0"/>
                  </a:lnTo>
                  <a:cubicBezTo>
                    <a:pt x="1153784" y="0"/>
                    <a:pt x="1156837" y="1265"/>
                    <a:pt x="1159089" y="3516"/>
                  </a:cubicBezTo>
                  <a:cubicBezTo>
                    <a:pt x="1161340" y="5768"/>
                    <a:pt x="1162605" y="8821"/>
                    <a:pt x="1162605" y="12005"/>
                  </a:cubicBezTo>
                  <a:lnTo>
                    <a:pt x="1162605" y="187200"/>
                  </a:lnTo>
                  <a:cubicBezTo>
                    <a:pt x="1162605" y="190384"/>
                    <a:pt x="1161340" y="193437"/>
                    <a:pt x="1159089" y="195689"/>
                  </a:cubicBezTo>
                  <a:cubicBezTo>
                    <a:pt x="1156837" y="197940"/>
                    <a:pt x="1153784" y="199205"/>
                    <a:pt x="1150600" y="199205"/>
                  </a:cubicBezTo>
                  <a:lnTo>
                    <a:pt x="12005" y="199205"/>
                  </a:lnTo>
                  <a:cubicBezTo>
                    <a:pt x="8821" y="199205"/>
                    <a:pt x="5768" y="197940"/>
                    <a:pt x="3516" y="195689"/>
                  </a:cubicBezTo>
                  <a:cubicBezTo>
                    <a:pt x="1265" y="193437"/>
                    <a:pt x="0" y="190384"/>
                    <a:pt x="0" y="187200"/>
                  </a:cubicBezTo>
                  <a:lnTo>
                    <a:pt x="0" y="12005"/>
                  </a:lnTo>
                  <a:cubicBezTo>
                    <a:pt x="0" y="8821"/>
                    <a:pt x="1265" y="5768"/>
                    <a:pt x="3516" y="3516"/>
                  </a:cubicBezTo>
                  <a:cubicBezTo>
                    <a:pt x="5768" y="1265"/>
                    <a:pt x="8821" y="0"/>
                    <a:pt x="12005" y="0"/>
                  </a:cubicBezTo>
                  <a:close/>
                </a:path>
              </a:pathLst>
            </a:custGeom>
            <a:solidFill>
              <a:srgbClr val="D1EDFF"/>
            </a:solidFill>
          </p:spPr>
        </p:sp>
        <p:sp>
          <p:nvSpPr>
            <p:cNvPr name="TextBox 12" id="12"/>
            <p:cNvSpPr txBox="true"/>
            <p:nvPr/>
          </p:nvSpPr>
          <p:spPr>
            <a:xfrm>
              <a:off x="0" y="-38100"/>
              <a:ext cx="1162605" cy="237305"/>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2846205" y="6701991"/>
            <a:ext cx="12595589" cy="2158175"/>
            <a:chOff x="0" y="0"/>
            <a:chExt cx="1162605" cy="199205"/>
          </a:xfrm>
        </p:grpSpPr>
        <p:sp>
          <p:nvSpPr>
            <p:cNvPr name="Freeform 14" id="14"/>
            <p:cNvSpPr/>
            <p:nvPr/>
          </p:nvSpPr>
          <p:spPr>
            <a:xfrm flipH="false" flipV="false" rot="0">
              <a:off x="0" y="0"/>
              <a:ext cx="1162605" cy="199205"/>
            </a:xfrm>
            <a:custGeom>
              <a:avLst/>
              <a:gdLst/>
              <a:ahLst/>
              <a:cxnLst/>
              <a:rect r="r" b="b" t="t" l="l"/>
              <a:pathLst>
                <a:path h="199205" w="1162605">
                  <a:moveTo>
                    <a:pt x="12005" y="0"/>
                  </a:moveTo>
                  <a:lnTo>
                    <a:pt x="1150600" y="0"/>
                  </a:lnTo>
                  <a:cubicBezTo>
                    <a:pt x="1153784" y="0"/>
                    <a:pt x="1156837" y="1265"/>
                    <a:pt x="1159089" y="3516"/>
                  </a:cubicBezTo>
                  <a:cubicBezTo>
                    <a:pt x="1161340" y="5768"/>
                    <a:pt x="1162605" y="8821"/>
                    <a:pt x="1162605" y="12005"/>
                  </a:cubicBezTo>
                  <a:lnTo>
                    <a:pt x="1162605" y="187200"/>
                  </a:lnTo>
                  <a:cubicBezTo>
                    <a:pt x="1162605" y="190384"/>
                    <a:pt x="1161340" y="193437"/>
                    <a:pt x="1159089" y="195689"/>
                  </a:cubicBezTo>
                  <a:cubicBezTo>
                    <a:pt x="1156837" y="197940"/>
                    <a:pt x="1153784" y="199205"/>
                    <a:pt x="1150600" y="199205"/>
                  </a:cubicBezTo>
                  <a:lnTo>
                    <a:pt x="12005" y="199205"/>
                  </a:lnTo>
                  <a:cubicBezTo>
                    <a:pt x="8821" y="199205"/>
                    <a:pt x="5768" y="197940"/>
                    <a:pt x="3516" y="195689"/>
                  </a:cubicBezTo>
                  <a:cubicBezTo>
                    <a:pt x="1265" y="193437"/>
                    <a:pt x="0" y="190384"/>
                    <a:pt x="0" y="187200"/>
                  </a:cubicBezTo>
                  <a:lnTo>
                    <a:pt x="0" y="12005"/>
                  </a:lnTo>
                  <a:cubicBezTo>
                    <a:pt x="0" y="8821"/>
                    <a:pt x="1265" y="5768"/>
                    <a:pt x="3516" y="3516"/>
                  </a:cubicBezTo>
                  <a:cubicBezTo>
                    <a:pt x="5768" y="1265"/>
                    <a:pt x="8821" y="0"/>
                    <a:pt x="12005" y="0"/>
                  </a:cubicBezTo>
                  <a:close/>
                </a:path>
              </a:pathLst>
            </a:custGeom>
            <a:solidFill>
              <a:srgbClr val="D1EDFF"/>
            </a:solidFill>
          </p:spPr>
        </p:sp>
        <p:sp>
          <p:nvSpPr>
            <p:cNvPr name="TextBox 15" id="15"/>
            <p:cNvSpPr txBox="true"/>
            <p:nvPr/>
          </p:nvSpPr>
          <p:spPr>
            <a:xfrm>
              <a:off x="0" y="-38100"/>
              <a:ext cx="1162605" cy="237305"/>
            </a:xfrm>
            <a:prstGeom prst="rect">
              <a:avLst/>
            </a:prstGeom>
          </p:spPr>
          <p:txBody>
            <a:bodyPr anchor="ctr" rtlCol="false" tIns="50800" lIns="50800" bIns="50800" rIns="50800"/>
            <a:lstStyle/>
            <a:p>
              <a:pPr algn="ctr" marL="0" indent="0" lvl="0">
                <a:lnSpc>
                  <a:spcPts val="2659"/>
                </a:lnSpc>
              </a:pPr>
            </a:p>
          </p:txBody>
        </p:sp>
      </p:grpSp>
      <p:sp>
        <p:nvSpPr>
          <p:cNvPr name="Freeform 16" id="16"/>
          <p:cNvSpPr/>
          <p:nvPr/>
        </p:nvSpPr>
        <p:spPr>
          <a:xfrm flipH="false" flipV="false" rot="0">
            <a:off x="3249266" y="4654344"/>
            <a:ext cx="952224" cy="978313"/>
          </a:xfrm>
          <a:custGeom>
            <a:avLst/>
            <a:gdLst/>
            <a:ahLst/>
            <a:cxnLst/>
            <a:rect r="r" b="b" t="t" l="l"/>
            <a:pathLst>
              <a:path h="978313" w="952224">
                <a:moveTo>
                  <a:pt x="0" y="0"/>
                </a:moveTo>
                <a:lnTo>
                  <a:pt x="952224" y="0"/>
                </a:lnTo>
                <a:lnTo>
                  <a:pt x="952224" y="978312"/>
                </a:lnTo>
                <a:lnTo>
                  <a:pt x="0" y="978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4668033" y="932116"/>
            <a:ext cx="13073588" cy="1038620"/>
          </a:xfrm>
          <a:prstGeom prst="rect">
            <a:avLst/>
          </a:prstGeom>
        </p:spPr>
        <p:txBody>
          <a:bodyPr anchor="t" rtlCol="false" tIns="0" lIns="0" bIns="0" rIns="0">
            <a:spAutoFit/>
          </a:bodyPr>
          <a:lstStyle/>
          <a:p>
            <a:pPr algn="l" marL="0" indent="0" lvl="0">
              <a:lnSpc>
                <a:spcPts val="7706"/>
              </a:lnSpc>
            </a:pPr>
            <a:r>
              <a:rPr lang="en-US" b="true" sz="8112">
                <a:gradFill>
                  <a:gsLst>
                    <a:gs pos="0">
                      <a:srgbClr val="5DE0E6">
                        <a:alpha val="100000"/>
                      </a:srgbClr>
                    </a:gs>
                    <a:gs pos="100000">
                      <a:srgbClr val="004AAD">
                        <a:alpha val="100000"/>
                      </a:srgbClr>
                    </a:gs>
                  </a:gsLst>
                  <a:lin ang="0"/>
                </a:gradFill>
                <a:latin typeface="Lora Bold"/>
                <a:ea typeface="Lora Bold"/>
                <a:cs typeface="Lora Bold"/>
                <a:sym typeface="Lora Bold"/>
              </a:rPr>
              <a:t>CO’S USED-</a:t>
            </a:r>
          </a:p>
        </p:txBody>
      </p:sp>
      <p:sp>
        <p:nvSpPr>
          <p:cNvPr name="TextBox 18" id="18"/>
          <p:cNvSpPr txBox="true"/>
          <p:nvPr/>
        </p:nvSpPr>
        <p:spPr>
          <a:xfrm rot="0">
            <a:off x="1210522" y="8319572"/>
            <a:ext cx="1071411" cy="1316604"/>
          </a:xfrm>
          <a:prstGeom prst="rect">
            <a:avLst/>
          </a:prstGeom>
        </p:spPr>
        <p:txBody>
          <a:bodyPr anchor="t" rtlCol="false" tIns="0" lIns="0" bIns="0" rIns="0">
            <a:spAutoFit/>
          </a:bodyPr>
          <a:lstStyle/>
          <a:p>
            <a:pPr algn="l" marL="0" indent="0" lvl="0">
              <a:lnSpc>
                <a:spcPts val="9039"/>
              </a:lnSpc>
            </a:pPr>
            <a:r>
              <a:rPr lang="en-US" b="true" sz="9515">
                <a:solidFill>
                  <a:srgbClr val="1C74BB"/>
                </a:solidFill>
                <a:latin typeface="Poppins Bold"/>
                <a:ea typeface="Poppins Bold"/>
                <a:cs typeface="Poppins Bold"/>
                <a:sym typeface="Poppins Bold"/>
              </a:rPr>
              <a:t>5</a:t>
            </a:r>
          </a:p>
        </p:txBody>
      </p:sp>
      <p:sp>
        <p:nvSpPr>
          <p:cNvPr name="TextBox 19" id="19"/>
          <p:cNvSpPr txBox="true"/>
          <p:nvPr/>
        </p:nvSpPr>
        <p:spPr>
          <a:xfrm rot="0">
            <a:off x="4419043" y="4566989"/>
            <a:ext cx="10400537" cy="1925452"/>
          </a:xfrm>
          <a:prstGeom prst="rect">
            <a:avLst/>
          </a:prstGeom>
        </p:spPr>
        <p:txBody>
          <a:bodyPr anchor="t" rtlCol="false" tIns="0" lIns="0" bIns="0" rIns="0">
            <a:spAutoFit/>
          </a:bodyPr>
          <a:lstStyle/>
          <a:p>
            <a:pPr algn="just">
              <a:lnSpc>
                <a:spcPts val="3059"/>
              </a:lnSpc>
            </a:pPr>
            <a:r>
              <a:rPr lang="en-US" sz="2683" b="true">
                <a:solidFill>
                  <a:srgbClr val="1C74BB"/>
                </a:solidFill>
                <a:latin typeface="Roboto Bold"/>
                <a:ea typeface="Roboto Bold"/>
                <a:cs typeface="Roboto Bold"/>
                <a:sym typeface="Roboto Bold"/>
              </a:rPr>
              <a:t>CO2 – Search Techniques</a:t>
            </a:r>
          </a:p>
          <a:p>
            <a:pPr algn="just">
              <a:lnSpc>
                <a:spcPts val="3059"/>
              </a:lnSpc>
            </a:pPr>
            <a:r>
              <a:rPr lang="en-US" sz="2683">
                <a:solidFill>
                  <a:srgbClr val="1C74BB"/>
                </a:solidFill>
                <a:latin typeface="Roboto"/>
                <a:ea typeface="Roboto"/>
                <a:cs typeface="Roboto"/>
                <a:sym typeface="Roboto"/>
              </a:rPr>
              <a:t>Heuristic Search</a:t>
            </a:r>
          </a:p>
          <a:p>
            <a:pPr algn="just">
              <a:lnSpc>
                <a:spcPts val="3059"/>
              </a:lnSpc>
            </a:pPr>
            <a:r>
              <a:rPr lang="en-US" sz="2683">
                <a:solidFill>
                  <a:srgbClr val="1C74BB"/>
                </a:solidFill>
                <a:latin typeface="Roboto"/>
                <a:ea typeface="Roboto"/>
                <a:cs typeface="Roboto"/>
                <a:sym typeface="Roboto"/>
              </a:rPr>
              <a:t>State-Space Search</a:t>
            </a:r>
          </a:p>
          <a:p>
            <a:pPr algn="just">
              <a:lnSpc>
                <a:spcPts val="3059"/>
              </a:lnSpc>
            </a:pPr>
            <a:r>
              <a:rPr lang="en-US" sz="2683">
                <a:solidFill>
                  <a:srgbClr val="1C74BB"/>
                </a:solidFill>
                <a:latin typeface="Roboto"/>
                <a:ea typeface="Roboto"/>
                <a:cs typeface="Roboto"/>
                <a:sym typeface="Roboto"/>
              </a:rPr>
              <a:t>Search-Based Decision Making</a:t>
            </a:r>
          </a:p>
          <a:p>
            <a:pPr algn="just" marL="0" indent="0" lvl="0">
              <a:lnSpc>
                <a:spcPts val="3059"/>
              </a:lnSpc>
            </a:pPr>
          </a:p>
        </p:txBody>
      </p:sp>
      <p:sp>
        <p:nvSpPr>
          <p:cNvPr name="Freeform 20" id="20"/>
          <p:cNvSpPr/>
          <p:nvPr/>
        </p:nvSpPr>
        <p:spPr>
          <a:xfrm flipH="false" flipV="false" rot="0">
            <a:off x="3249266" y="6985853"/>
            <a:ext cx="952224" cy="978313"/>
          </a:xfrm>
          <a:custGeom>
            <a:avLst/>
            <a:gdLst/>
            <a:ahLst/>
            <a:cxnLst/>
            <a:rect r="r" b="b" t="t" l="l"/>
            <a:pathLst>
              <a:path h="978313" w="952224">
                <a:moveTo>
                  <a:pt x="0" y="0"/>
                </a:moveTo>
                <a:lnTo>
                  <a:pt x="952224" y="0"/>
                </a:lnTo>
                <a:lnTo>
                  <a:pt x="952224" y="978313"/>
                </a:lnTo>
                <a:lnTo>
                  <a:pt x="0" y="978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1" id="21"/>
          <p:cNvGrpSpPr/>
          <p:nvPr/>
        </p:nvGrpSpPr>
        <p:grpSpPr>
          <a:xfrm rot="0">
            <a:off x="2846205" y="1970736"/>
            <a:ext cx="12595589" cy="2158175"/>
            <a:chOff x="0" y="0"/>
            <a:chExt cx="1162605" cy="199205"/>
          </a:xfrm>
        </p:grpSpPr>
        <p:sp>
          <p:nvSpPr>
            <p:cNvPr name="Freeform 22" id="22"/>
            <p:cNvSpPr/>
            <p:nvPr/>
          </p:nvSpPr>
          <p:spPr>
            <a:xfrm flipH="false" flipV="false" rot="0">
              <a:off x="0" y="0"/>
              <a:ext cx="1162605" cy="199205"/>
            </a:xfrm>
            <a:custGeom>
              <a:avLst/>
              <a:gdLst/>
              <a:ahLst/>
              <a:cxnLst/>
              <a:rect r="r" b="b" t="t" l="l"/>
              <a:pathLst>
                <a:path h="199205" w="1162605">
                  <a:moveTo>
                    <a:pt x="12005" y="0"/>
                  </a:moveTo>
                  <a:lnTo>
                    <a:pt x="1150600" y="0"/>
                  </a:lnTo>
                  <a:cubicBezTo>
                    <a:pt x="1153784" y="0"/>
                    <a:pt x="1156837" y="1265"/>
                    <a:pt x="1159089" y="3516"/>
                  </a:cubicBezTo>
                  <a:cubicBezTo>
                    <a:pt x="1161340" y="5768"/>
                    <a:pt x="1162605" y="8821"/>
                    <a:pt x="1162605" y="12005"/>
                  </a:cubicBezTo>
                  <a:lnTo>
                    <a:pt x="1162605" y="187200"/>
                  </a:lnTo>
                  <a:cubicBezTo>
                    <a:pt x="1162605" y="190384"/>
                    <a:pt x="1161340" y="193437"/>
                    <a:pt x="1159089" y="195689"/>
                  </a:cubicBezTo>
                  <a:cubicBezTo>
                    <a:pt x="1156837" y="197940"/>
                    <a:pt x="1153784" y="199205"/>
                    <a:pt x="1150600" y="199205"/>
                  </a:cubicBezTo>
                  <a:lnTo>
                    <a:pt x="12005" y="199205"/>
                  </a:lnTo>
                  <a:cubicBezTo>
                    <a:pt x="8821" y="199205"/>
                    <a:pt x="5768" y="197940"/>
                    <a:pt x="3516" y="195689"/>
                  </a:cubicBezTo>
                  <a:cubicBezTo>
                    <a:pt x="1265" y="193437"/>
                    <a:pt x="0" y="190384"/>
                    <a:pt x="0" y="187200"/>
                  </a:cubicBezTo>
                  <a:lnTo>
                    <a:pt x="0" y="12005"/>
                  </a:lnTo>
                  <a:cubicBezTo>
                    <a:pt x="0" y="8821"/>
                    <a:pt x="1265" y="5768"/>
                    <a:pt x="3516" y="3516"/>
                  </a:cubicBezTo>
                  <a:cubicBezTo>
                    <a:pt x="5768" y="1265"/>
                    <a:pt x="8821" y="0"/>
                    <a:pt x="12005" y="0"/>
                  </a:cubicBezTo>
                  <a:close/>
                </a:path>
              </a:pathLst>
            </a:custGeom>
            <a:solidFill>
              <a:srgbClr val="D1EDFF"/>
            </a:solidFill>
          </p:spPr>
        </p:sp>
        <p:sp>
          <p:nvSpPr>
            <p:cNvPr name="TextBox 23" id="23"/>
            <p:cNvSpPr txBox="true"/>
            <p:nvPr/>
          </p:nvSpPr>
          <p:spPr>
            <a:xfrm>
              <a:off x="0" y="-38100"/>
              <a:ext cx="1162605" cy="237305"/>
            </a:xfrm>
            <a:prstGeom prst="rect">
              <a:avLst/>
            </a:prstGeom>
          </p:spPr>
          <p:txBody>
            <a:bodyPr anchor="ctr" rtlCol="false" tIns="50800" lIns="50800" bIns="50800" rIns="50800"/>
            <a:lstStyle/>
            <a:p>
              <a:pPr algn="ctr" marL="0" indent="0" lvl="0">
                <a:lnSpc>
                  <a:spcPts val="2659"/>
                </a:lnSpc>
              </a:pPr>
            </a:p>
          </p:txBody>
        </p:sp>
      </p:grpSp>
      <p:sp>
        <p:nvSpPr>
          <p:cNvPr name="Freeform 24" id="24"/>
          <p:cNvSpPr/>
          <p:nvPr/>
        </p:nvSpPr>
        <p:spPr>
          <a:xfrm flipH="false" flipV="false" rot="0">
            <a:off x="3249266" y="2431580"/>
            <a:ext cx="952224" cy="978313"/>
          </a:xfrm>
          <a:custGeom>
            <a:avLst/>
            <a:gdLst/>
            <a:ahLst/>
            <a:cxnLst/>
            <a:rect r="r" b="b" t="t" l="l"/>
            <a:pathLst>
              <a:path h="978313" w="952224">
                <a:moveTo>
                  <a:pt x="0" y="0"/>
                </a:moveTo>
                <a:lnTo>
                  <a:pt x="952224" y="0"/>
                </a:lnTo>
                <a:lnTo>
                  <a:pt x="952224" y="978312"/>
                </a:lnTo>
                <a:lnTo>
                  <a:pt x="0" y="978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4419043" y="1441459"/>
            <a:ext cx="16305531" cy="2687452"/>
          </a:xfrm>
          <a:prstGeom prst="rect">
            <a:avLst/>
          </a:prstGeom>
        </p:spPr>
        <p:txBody>
          <a:bodyPr anchor="t" rtlCol="false" tIns="0" lIns="0" bIns="0" rIns="0">
            <a:spAutoFit/>
          </a:bodyPr>
          <a:lstStyle/>
          <a:p>
            <a:pPr algn="just">
              <a:lnSpc>
                <a:spcPts val="3059"/>
              </a:lnSpc>
            </a:pPr>
          </a:p>
          <a:p>
            <a:pPr algn="just">
              <a:lnSpc>
                <a:spcPts val="3059"/>
              </a:lnSpc>
            </a:pPr>
          </a:p>
          <a:p>
            <a:pPr algn="just">
              <a:lnSpc>
                <a:spcPts val="3059"/>
              </a:lnSpc>
            </a:pPr>
            <a:r>
              <a:rPr lang="en-US" sz="2683" b="true">
                <a:solidFill>
                  <a:srgbClr val="1C74BB"/>
                </a:solidFill>
                <a:latin typeface="Roboto Bold"/>
                <a:ea typeface="Roboto Bold"/>
                <a:cs typeface="Roboto Bold"/>
                <a:sym typeface="Roboto Bold"/>
              </a:rPr>
              <a:t>CO1 – AI Problem Formulation</a:t>
            </a:r>
          </a:p>
          <a:p>
            <a:pPr algn="just">
              <a:lnSpc>
                <a:spcPts val="3059"/>
              </a:lnSpc>
            </a:pPr>
            <a:r>
              <a:rPr lang="en-US" sz="2683">
                <a:solidFill>
                  <a:srgbClr val="1C74BB"/>
                </a:solidFill>
                <a:latin typeface="Roboto"/>
                <a:ea typeface="Roboto"/>
                <a:cs typeface="Roboto"/>
                <a:sym typeface="Roboto"/>
              </a:rPr>
              <a:t>State Space Representation</a:t>
            </a:r>
          </a:p>
          <a:p>
            <a:pPr algn="just">
              <a:lnSpc>
                <a:spcPts val="3059"/>
              </a:lnSpc>
            </a:pPr>
            <a:r>
              <a:rPr lang="en-US" sz="2683">
                <a:solidFill>
                  <a:srgbClr val="1C74BB"/>
                </a:solidFill>
                <a:latin typeface="Roboto"/>
                <a:ea typeface="Roboto"/>
                <a:cs typeface="Roboto"/>
                <a:sym typeface="Roboto"/>
              </a:rPr>
              <a:t>Constraint Representation</a:t>
            </a:r>
          </a:p>
          <a:p>
            <a:pPr algn="just">
              <a:lnSpc>
                <a:spcPts val="3059"/>
              </a:lnSpc>
            </a:pPr>
            <a:r>
              <a:rPr lang="en-US" sz="2683">
                <a:solidFill>
                  <a:srgbClr val="1C74BB"/>
                </a:solidFill>
                <a:latin typeface="Roboto"/>
                <a:ea typeface="Roboto"/>
                <a:cs typeface="Roboto"/>
                <a:sym typeface="Roboto"/>
              </a:rPr>
              <a:t>Goal-Based Problem Solving</a:t>
            </a:r>
          </a:p>
          <a:p>
            <a:pPr algn="just" marL="0" indent="0" lvl="0">
              <a:lnSpc>
                <a:spcPts val="3059"/>
              </a:lnSpc>
            </a:pPr>
          </a:p>
        </p:txBody>
      </p:sp>
      <p:sp>
        <p:nvSpPr>
          <p:cNvPr name="TextBox 26" id="26"/>
          <p:cNvSpPr txBox="true"/>
          <p:nvPr/>
        </p:nvSpPr>
        <p:spPr>
          <a:xfrm rot="0">
            <a:off x="4419043" y="6985853"/>
            <a:ext cx="10400537" cy="2306452"/>
          </a:xfrm>
          <a:prstGeom prst="rect">
            <a:avLst/>
          </a:prstGeom>
        </p:spPr>
        <p:txBody>
          <a:bodyPr anchor="t" rtlCol="false" tIns="0" lIns="0" bIns="0" rIns="0">
            <a:spAutoFit/>
          </a:bodyPr>
          <a:lstStyle/>
          <a:p>
            <a:pPr algn="just">
              <a:lnSpc>
                <a:spcPts val="3059"/>
              </a:lnSpc>
            </a:pPr>
            <a:r>
              <a:rPr lang="en-US" sz="2683">
                <a:solidFill>
                  <a:srgbClr val="1C74BB"/>
                </a:solidFill>
                <a:latin typeface="Roboto"/>
                <a:ea typeface="Roboto"/>
                <a:cs typeface="Roboto"/>
                <a:sym typeface="Roboto"/>
              </a:rPr>
              <a:t> </a:t>
            </a:r>
            <a:r>
              <a:rPr lang="en-US" sz="2683" b="true">
                <a:solidFill>
                  <a:srgbClr val="1C74BB"/>
                </a:solidFill>
                <a:latin typeface="Roboto Bold"/>
                <a:ea typeface="Roboto Bold"/>
                <a:cs typeface="Roboto Bold"/>
                <a:sym typeface="Roboto Bold"/>
              </a:rPr>
              <a:t>CO3 – Constraint Satisfaction &amp; Reasoning</a:t>
            </a:r>
          </a:p>
          <a:p>
            <a:pPr algn="just">
              <a:lnSpc>
                <a:spcPts val="3059"/>
              </a:lnSpc>
            </a:pPr>
            <a:r>
              <a:rPr lang="en-US" sz="2683">
                <a:solidFill>
                  <a:srgbClr val="1C74BB"/>
                </a:solidFill>
                <a:latin typeface="Roboto"/>
                <a:ea typeface="Roboto"/>
                <a:cs typeface="Roboto"/>
                <a:sym typeface="Roboto"/>
              </a:rPr>
              <a:t>Constraint Satisfaction Problem (CSP)</a:t>
            </a:r>
          </a:p>
          <a:p>
            <a:pPr algn="just">
              <a:lnSpc>
                <a:spcPts val="3059"/>
              </a:lnSpc>
            </a:pPr>
            <a:r>
              <a:rPr lang="en-US" sz="2683">
                <a:solidFill>
                  <a:srgbClr val="1C74BB"/>
                </a:solidFill>
                <a:latin typeface="Roboto"/>
                <a:ea typeface="Roboto"/>
                <a:cs typeface="Roboto"/>
                <a:sym typeface="Roboto"/>
              </a:rPr>
              <a:t>Rule-Based Reasoning</a:t>
            </a:r>
          </a:p>
          <a:p>
            <a:pPr algn="just">
              <a:lnSpc>
                <a:spcPts val="3059"/>
              </a:lnSpc>
            </a:pPr>
            <a:r>
              <a:rPr lang="en-US" sz="2683">
                <a:solidFill>
                  <a:srgbClr val="1C74BB"/>
                </a:solidFill>
                <a:latin typeface="Roboto"/>
                <a:ea typeface="Roboto"/>
                <a:cs typeface="Roboto"/>
                <a:sym typeface="Roboto"/>
              </a:rPr>
              <a:t>Behaviour Analysis using Constraints</a:t>
            </a:r>
          </a:p>
          <a:p>
            <a:pPr algn="just">
              <a:lnSpc>
                <a:spcPts val="3059"/>
              </a:lnSpc>
            </a:pPr>
          </a:p>
          <a:p>
            <a:pPr algn="just" marL="0" indent="0" lvl="0">
              <a:lnSpc>
                <a:spcPts val="30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F6FF"/>
        </a:solidFill>
      </p:bgPr>
    </p:bg>
    <p:spTree>
      <p:nvGrpSpPr>
        <p:cNvPr id="1" name=""/>
        <p:cNvGrpSpPr/>
        <p:nvPr/>
      </p:nvGrpSpPr>
      <p:grpSpPr>
        <a:xfrm>
          <a:off x="0" y="0"/>
          <a:ext cx="0" cy="0"/>
          <a:chOff x="0" y="0"/>
          <a:chExt cx="0" cy="0"/>
        </a:xfrm>
      </p:grpSpPr>
      <p:sp>
        <p:nvSpPr>
          <p:cNvPr name="TextBox 2" id="2"/>
          <p:cNvSpPr txBox="true"/>
          <p:nvPr/>
        </p:nvSpPr>
        <p:spPr>
          <a:xfrm rot="0">
            <a:off x="3084267" y="4036470"/>
            <a:ext cx="12119466" cy="2164477"/>
          </a:xfrm>
          <a:prstGeom prst="rect">
            <a:avLst/>
          </a:prstGeom>
        </p:spPr>
        <p:txBody>
          <a:bodyPr anchor="t" rtlCol="false" tIns="0" lIns="0" bIns="0" rIns="0">
            <a:spAutoFit/>
          </a:bodyPr>
          <a:lstStyle/>
          <a:p>
            <a:pPr algn="l" marL="0" indent="0" lvl="0">
              <a:lnSpc>
                <a:spcPts val="7957"/>
              </a:lnSpc>
            </a:pPr>
            <a:r>
              <a:rPr lang="en-US" b="true" sz="8376">
                <a:solidFill>
                  <a:srgbClr val="1C74BB"/>
                </a:solidFill>
                <a:latin typeface="Poppins Bold"/>
                <a:ea typeface="Poppins Bold"/>
                <a:cs typeface="Poppins Bold"/>
                <a:sym typeface="Poppins Bold"/>
              </a:rPr>
              <a:t>READY TO TRANSFORM YOUR ASSESSMENTS?</a:t>
            </a:r>
          </a:p>
        </p:txBody>
      </p:sp>
      <p:sp>
        <p:nvSpPr>
          <p:cNvPr name="Freeform 3" id="3"/>
          <p:cNvSpPr/>
          <p:nvPr/>
        </p:nvSpPr>
        <p:spPr>
          <a:xfrm flipH="false" flipV="false" rot="4644591">
            <a:off x="14264060" y="-3736254"/>
            <a:ext cx="8047880" cy="8132468"/>
          </a:xfrm>
          <a:custGeom>
            <a:avLst/>
            <a:gdLst/>
            <a:ahLst/>
            <a:cxnLst/>
            <a:rect r="r" b="b" t="t" l="l"/>
            <a:pathLst>
              <a:path h="8132468" w="8047880">
                <a:moveTo>
                  <a:pt x="0" y="0"/>
                </a:moveTo>
                <a:lnTo>
                  <a:pt x="8047880" y="0"/>
                </a:lnTo>
                <a:lnTo>
                  <a:pt x="8047880" y="8132467"/>
                </a:lnTo>
                <a:lnTo>
                  <a:pt x="0" y="8132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34430">
            <a:off x="-2995240" y="5755692"/>
            <a:ext cx="8047880" cy="8132468"/>
          </a:xfrm>
          <a:custGeom>
            <a:avLst/>
            <a:gdLst/>
            <a:ahLst/>
            <a:cxnLst/>
            <a:rect r="r" b="b" t="t" l="l"/>
            <a:pathLst>
              <a:path h="8132468" w="8047880">
                <a:moveTo>
                  <a:pt x="0" y="0"/>
                </a:moveTo>
                <a:lnTo>
                  <a:pt x="8047880" y="0"/>
                </a:lnTo>
                <a:lnTo>
                  <a:pt x="8047880" y="8132468"/>
                </a:lnTo>
                <a:lnTo>
                  <a:pt x="0" y="81324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3084267" y="6337957"/>
            <a:ext cx="7623063" cy="414977"/>
          </a:xfrm>
          <a:prstGeom prst="rect">
            <a:avLst/>
          </a:prstGeom>
        </p:spPr>
        <p:txBody>
          <a:bodyPr anchor="t" rtlCol="false" tIns="0" lIns="0" bIns="0" rIns="0">
            <a:spAutoFit/>
          </a:bodyPr>
          <a:lstStyle/>
          <a:p>
            <a:pPr algn="l" marL="0" indent="0" lvl="0">
              <a:lnSpc>
                <a:spcPts val="2898"/>
              </a:lnSpc>
            </a:pPr>
            <a:r>
              <a:rPr lang="en-US" sz="3050">
                <a:solidFill>
                  <a:srgbClr val="1C74BB"/>
                </a:solidFill>
                <a:latin typeface="Poppins"/>
                <a:ea typeface="Poppins"/>
                <a:cs typeface="Poppins"/>
                <a:sym typeface="Poppins"/>
              </a:rPr>
              <a:t>Embrace the digital future of education</a:t>
            </a:r>
          </a:p>
        </p:txBody>
      </p:sp>
      <p:sp>
        <p:nvSpPr>
          <p:cNvPr name="Freeform 6" id="6"/>
          <p:cNvSpPr/>
          <p:nvPr/>
        </p:nvSpPr>
        <p:spPr>
          <a:xfrm flipH="false" flipV="false" rot="0">
            <a:off x="11295611" y="5595846"/>
            <a:ext cx="5490803" cy="4598105"/>
          </a:xfrm>
          <a:custGeom>
            <a:avLst/>
            <a:gdLst/>
            <a:ahLst/>
            <a:cxnLst/>
            <a:rect r="r" b="b" t="t" l="l"/>
            <a:pathLst>
              <a:path h="4598105" w="5490803">
                <a:moveTo>
                  <a:pt x="0" y="0"/>
                </a:moveTo>
                <a:lnTo>
                  <a:pt x="5490803" y="0"/>
                </a:lnTo>
                <a:lnTo>
                  <a:pt x="5490803" y="4598105"/>
                </a:lnTo>
                <a:lnTo>
                  <a:pt x="0" y="4598105"/>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DAHKRZh5SCg</dc:identifier>
  <dcterms:modified xsi:type="dcterms:W3CDTF">2011-08-01T06:04:30Z</dcterms:modified>
  <cp:revision>1</cp:revision>
  <dc:title>Intelligent Exam Proctoring System</dc:title>
</cp:coreProperties>
</file>